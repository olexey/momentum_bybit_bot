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74920"/>
            <a:ext cx="12191695" cy="109728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84648"/>
            <a:ext cx="12191695" cy="54864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28C7E"/>
                </a:solidFill>
                <a:latin typeface="Calibri"/>
              </a:rPr>
              <a:t>VIDRES PORTUGAL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Manual Estratégico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36A1E"/>
                </a:solidFill>
                <a:latin typeface="Calibri"/>
              </a:rPr>
              <a:t>O Parceiro Ágil de Inovação Técnica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36A1E"/>
                </a:solidFill>
                <a:latin typeface="Calibri"/>
              </a:rPr>
              <a:t>da Cerâmica Portuguesa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C8D4DC"/>
                </a:solidFill>
                <a:latin typeface="Calibri"/>
              </a:rPr>
              <a:t>Matéria-prima para loiça &amp; cerâmica  ·  Estratégia competitiva contra Torrecid / Esmalglass / Ferro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Vista Alegre  ·  Costa Verde  ·  Cluster de Aveiro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TESE CENTRAL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80160"/>
            <a:ext cx="10515600" cy="192024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08760"/>
            <a:ext cx="97840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A Vidres Portugal deve tornar-se o parceiro ágil de inovação técnica dos fabricantes de cerâmica portugueses — e não um fornecedor de matéria-prima em regime de commodity.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Calibri"/>
              </a:rPr>
              <a:t>Não vencemos a Torrecid em escala. Vencemo-la por sermos: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343400"/>
            <a:ext cx="2514600" cy="155448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MAIS RÁPIDOS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2514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amostra à medida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≤ 10 dias úteis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4343400"/>
            <a:ext cx="2514600" cy="155448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52628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MAIS PRÓXIMOS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5074920"/>
            <a:ext cx="2514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engenheiro na linha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 24–48h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4343400"/>
            <a:ext cx="2514600" cy="155448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9904" y="452628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MAIS FLEXÍVEIS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5074920"/>
            <a:ext cx="2514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lotes-piloto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50–200 kg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23376" y="4343400"/>
            <a:ext cx="2514600" cy="155448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23376" y="452628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MAIS SUSTENTÁVEIS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5074920"/>
            <a:ext cx="2514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8–12% poupança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 energia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1.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Mercado português de matérias-primas cerâmicas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11880" cy="210312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LOIÇA PREMIUM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Vista Alegre · Costa Verde · Spal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Qualidade &gt; preço.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 consistência do lote domina.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611880" cy="210312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6596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VOLUME / GRÉS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6888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Matceramica · Grestel · regionais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97180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Sensível a preço + energia,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mas rejeita defeitos.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783080"/>
            <a:ext cx="3611880" cy="21031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96596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SANITÁRIO / AZULEJO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46888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Sanindusa · Revigrés · Love Tiles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97180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Guiado por volume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 por energia.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60520"/>
            <a:ext cx="11064240" cy="1874519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Calibri"/>
              </a:rPr>
              <a:t>Cluster de Aveiro / Centro — a vantagem estrutural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28C7E"/>
                </a:solidFill>
                <a:latin typeface="Calibri"/>
              </a:rPr>
              <a:t>•  </a:t>
            </a:r>
            <a:r>
              <a:rPr sz="1400" b="0">
                <a:solidFill>
                  <a:srgbClr val="1A242B"/>
                </a:solidFill>
                <a:latin typeface="Calibri"/>
              </a:rPr>
              <a:t>Aveiro / Ílhavo / Vagos — porcelana e loiça (Vista Alegre, Costa Verde, Grestel).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28C7E"/>
                </a:solidFill>
                <a:latin typeface="Calibri"/>
              </a:rPr>
              <a:t>•  </a:t>
            </a:r>
            <a:r>
              <a:rPr sz="1400" b="0">
                <a:solidFill>
                  <a:srgbClr val="1A242B"/>
                </a:solidFill>
                <a:latin typeface="Calibri"/>
              </a:rPr>
              <a:t>Polo técnico local = 60–90 min das contas-chave. Torrecid/Esmalglass: ~900 km de Castellón.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28C7E"/>
                </a:solidFill>
                <a:latin typeface="Calibri"/>
              </a:rPr>
              <a:t>•  </a:t>
            </a:r>
            <a:r>
              <a:rPr sz="1400" b="0">
                <a:solidFill>
                  <a:srgbClr val="1A242B"/>
                </a:solidFill>
                <a:latin typeface="Calibri"/>
              </a:rPr>
              <a:t>A proximidade é o fosso defensivo mais forte que temos.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2. PANORAMA COMPETITIVO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A lacuna estratégica: ninguém ocupa o quadrante vencedor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286000" cy="6400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Torrecid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691640"/>
            <a:ext cx="3291840" cy="640080"/>
          </a:xfrm>
          <a:prstGeom prst="rect">
            <a:avLst/>
          </a:prstGeom>
          <a:solidFill>
            <a:srgbClr val="D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169164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242B"/>
                </a:solidFill>
                <a:latin typeface="Calibri"/>
              </a:rPr>
              <a:t>Escala global, laboratórios fortes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303520" cy="640080"/>
          </a:xfrm>
          <a:prstGeom prst="rect">
            <a:avLst/>
          </a:prstGeom>
          <a:solidFill>
            <a:srgbClr val="FB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91640"/>
            <a:ext cx="5120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36A1E"/>
                </a:solidFill>
                <a:latin typeface="Calibri"/>
              </a:rPr>
              <a:t>Fraqueza: </a:t>
            </a:r>
            <a:r>
              <a:rPr sz="1200" b="0">
                <a:solidFill>
                  <a:srgbClr val="1A242B"/>
                </a:solidFill>
                <a:latin typeface="Calibri"/>
              </a:rPr>
              <a:t>Lento em pequenos lotes; longe de Portugal; rígido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41448"/>
            <a:ext cx="2286000" cy="6400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Esmalglass-Itaca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441448"/>
            <a:ext cx="3291840" cy="640080"/>
          </a:xfrm>
          <a:prstGeom prst="rect">
            <a:avLst/>
          </a:prstGeom>
          <a:solidFill>
            <a:srgbClr val="D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44144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242B"/>
                </a:solidFill>
                <a:latin typeface="Calibri"/>
              </a:rPr>
              <a:t>I&amp;D profunda, tintas digitais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441448"/>
            <a:ext cx="5303520" cy="640080"/>
          </a:xfrm>
          <a:prstGeom prst="rect">
            <a:avLst/>
          </a:prstGeom>
          <a:solidFill>
            <a:srgbClr val="FB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441448"/>
            <a:ext cx="5120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36A1E"/>
                </a:solidFill>
                <a:latin typeface="Calibri"/>
              </a:rPr>
              <a:t>Fraqueza: </a:t>
            </a:r>
            <a:r>
              <a:rPr sz="1200" b="0">
                <a:solidFill>
                  <a:srgbClr val="1A242B"/>
                </a:solidFill>
                <a:latin typeface="Calibri"/>
              </a:rPr>
              <a:t>Decisão corporativa lenta; Portugal à distância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91256"/>
            <a:ext cx="2286000" cy="6400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91256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Ferro / Vibrantz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191256"/>
            <a:ext cx="3291840" cy="640080"/>
          </a:xfrm>
          <a:prstGeom prst="rect">
            <a:avLst/>
          </a:prstGeom>
          <a:solidFill>
            <a:srgbClr val="D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3191256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242B"/>
                </a:solidFill>
                <a:latin typeface="Calibri"/>
              </a:rPr>
              <a:t>Ciência da cor, sem chumbo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191256"/>
            <a:ext cx="5303520" cy="640080"/>
          </a:xfrm>
          <a:prstGeom prst="rect">
            <a:avLst/>
          </a:prstGeom>
          <a:solidFill>
            <a:srgbClr val="FB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191256"/>
            <a:ext cx="5120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36A1E"/>
                </a:solidFill>
                <a:latin typeface="Calibri"/>
              </a:rPr>
              <a:t>Fraqueza: </a:t>
            </a:r>
            <a:r>
              <a:rPr sz="1200" b="0">
                <a:solidFill>
                  <a:srgbClr val="1A242B"/>
                </a:solidFill>
                <a:latin typeface="Calibri"/>
              </a:rPr>
              <a:t>Reorganização pós-fusão; pouca intimidade ibérica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941064"/>
            <a:ext cx="2286000" cy="6400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41064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Locais / pequenos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941064"/>
            <a:ext cx="3291840" cy="640080"/>
          </a:xfrm>
          <a:prstGeom prst="rect">
            <a:avLst/>
          </a:prstGeom>
          <a:solidFill>
            <a:srgbClr val="D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63240" y="394106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1A242B"/>
                </a:solidFill>
                <a:latin typeface="Calibri"/>
              </a:rPr>
              <a:t>Baratos, locais, flexíveis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941064"/>
            <a:ext cx="5303520" cy="640080"/>
          </a:xfrm>
          <a:prstGeom prst="rect">
            <a:avLst/>
          </a:prstGeom>
          <a:solidFill>
            <a:srgbClr val="FB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941064"/>
            <a:ext cx="5120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36A1E"/>
                </a:solidFill>
                <a:latin typeface="Calibri"/>
              </a:rPr>
              <a:t>Fraqueza: </a:t>
            </a:r>
            <a:r>
              <a:rPr sz="1200" b="0">
                <a:solidFill>
                  <a:srgbClr val="1A242B"/>
                </a:solidFill>
                <a:latin typeface="Calibri"/>
              </a:rPr>
              <a:t>I&amp;D fraca, sem roteiro, lotes inconsistentes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◆  A posição vencedora da Vidres = alta tecnologia + alta proximidade.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Os espanhóis têm tecnologia mas não proximidade; os locais têm proximidade mas não tecnologia.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3. PONTOS DE 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As 4 coisas que as fábricas realmente compram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09728" cy="196596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E2A47"/>
                </a:solidFill>
                <a:latin typeface="Calibri"/>
              </a:rPr>
              <a:t>1 · Consistência entre lotes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983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O principal motor de abandono. Tom, fusão, brilho ou defeitos que variam = cliente perdido.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→ </a:t>
            </a:r>
            <a:r>
              <a:rPr sz="1250" b="1">
                <a:solidFill>
                  <a:srgbClr val="128C7E"/>
                </a:solidFill>
                <a:latin typeface="Calibri"/>
              </a:rPr>
              <a:t>SPC + Certificado de Análise · ΔE ≤ 0,5 · SLA contratual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109728" cy="196596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2024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E2A47"/>
                </a:solidFill>
                <a:latin typeface="Calibri"/>
              </a:rPr>
              <a:t>2 · Eficiência energética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4983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Gás e eletricidade são a rubrica #1 do P&amp;L. Querem menor temperatura e ciclo mais curto.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0040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→ </a:t>
            </a:r>
            <a:r>
              <a:rPr sz="1250" b="1">
                <a:solidFill>
                  <a:srgbClr val="128C7E"/>
                </a:solidFill>
                <a:latin typeface="Calibri"/>
              </a:rPr>
              <a:t>Eco-Low Fire: −30 a −50 °C → 8–12% de energia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40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977640"/>
            <a:ext cx="109728" cy="196596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E2A47"/>
                </a:solidFill>
                <a:latin typeface="Calibri"/>
              </a:rPr>
              <a:t>3 · Desenvolvimento à medida rápido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4983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O laboratório da Torrecid é a sua fortaleza. As fábricas precisam de respostas rápidas.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→ </a:t>
            </a:r>
            <a:r>
              <a:rPr sz="1250" b="1">
                <a:solidFill>
                  <a:srgbClr val="128C7E"/>
                </a:solidFill>
                <a:latin typeface="Calibri"/>
              </a:rPr>
              <a:t>Laboratório local + cor digital → amostra ≤ 10 dias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977640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977640"/>
            <a:ext cx="109728" cy="196596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E2A47"/>
                </a:solidFill>
                <a:latin typeface="Calibri"/>
              </a:rPr>
              <a:t>4 · Apoio técnico no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72000"/>
            <a:ext cx="4983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A proximidade vence Espanha. Um engenheiro que resolve a linha em 24–48h é decisivo.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94960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→ </a:t>
            </a:r>
            <a:r>
              <a:rPr sz="1250" b="1">
                <a:solidFill>
                  <a:srgbClr val="128C7E"/>
                </a:solidFill>
                <a:latin typeface="Calibri"/>
              </a:rPr>
              <a:t>Engenheiros de campo em Portugal · resposta 24–48h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4.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Três alavancas para proteger a margem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11880" cy="68580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611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 · Abastecimento ibérico local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3611880" cy="2286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Sílica, feldspato e casco reciclado de origem ibérica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Recuperar casco dos rejeitos do próprio cliente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↓ transporte · ↓ prazo · ↓ CO₂ · economia circular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611880" cy="6858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783080"/>
            <a:ext cx="3611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B · 5 fritas-base padronizadas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468880"/>
            <a:ext cx="3611880" cy="2286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Não 50 receitas — 5 bases + aditivos/corantes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Poder de compra e QC mais simples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Resposta à medida mais rápida e consistente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783080"/>
            <a:ext cx="3611880" cy="6858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783080"/>
            <a:ext cx="3611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 · Correspondência de cor digital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468880"/>
            <a:ext cx="3611880" cy="2286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Formulação automatizada por espectrofotómetro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↓ desperdício · ↓ ciclos de teste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128C7E"/>
                </a:solidFill>
                <a:latin typeface="Calibri"/>
              </a:rPr>
              <a:t>•  </a:t>
            </a:r>
            <a:r>
              <a:rPr sz="1250" b="0">
                <a:solidFill>
                  <a:srgbClr val="1A242B"/>
                </a:solidFill>
                <a:latin typeface="Calibri"/>
              </a:rPr>
              <a:t>↓ tempo e custo de desenvolvimento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00" b="1">
                <a:solidFill>
                  <a:srgbClr val="E36A1E"/>
                </a:solidFill>
                <a:latin typeface="Calibri"/>
              </a:rPr>
              <a:t>Efeito combinado A+B+C: </a:t>
            </a:r>
            <a:r>
              <a:rPr sz="1700" b="1">
                <a:solidFill>
                  <a:srgbClr val="FFFFFF"/>
                </a:solidFill>
                <a:latin typeface="Calibri"/>
              </a:rPr>
              <a:t>redução de 20–35% do custo-de-servir e de I&amp;D —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financia preço competitivo E serviço técnico gratuito que fideliza as contas.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E36A1E"/>
                </a:solidFill>
                <a:latin typeface="Calibri"/>
              </a:rPr>
              <a:t>5. ROTEIRO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Duas bandeiras: de fornecedor a parceiro tecnológico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440680" cy="278892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BANDEIRA #1 — arma 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Sistema Eco-Low Fire Smart Frit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5029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Baixa a temperatura de cozedura 30–50 °C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Ciclo mais curto, menos consumo de energia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Mantém brancura e brilho (loiça premium)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977639"/>
            <a:ext cx="49834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4983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8–12% de poupança de energia — mais forte que o preço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37360"/>
            <a:ext cx="5440680" cy="278892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BANDEIRA #2 — posicionamento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Plataforma de Previsão de Vidrados por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63240"/>
            <a:ext cx="5029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Input: pasta + curva de forno + acabamento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Recomenda a receita de partida e prevê defeitos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•  </a:t>
            </a:r>
            <a:r>
              <a:rPr sz="1300" b="0">
                <a:solidFill>
                  <a:srgbClr val="FFFFFF"/>
                </a:solidFill>
                <a:latin typeface="Calibri"/>
              </a:rPr>
              <a:t>Fosso de dados → custo de mudança sobe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solidFill>
            <a:srgbClr val="13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646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E36A1E"/>
                </a:solidFill>
                <a:latin typeface="Calibri"/>
              </a:rPr>
              <a:t>Sequenciamento — primeiro a vitória energética, depois a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2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H1 (M1–6) 5 fritas-base + ΔE   ▶   H2 (M4–12) Eco-Low-Fire v1 + pilotos   ▶   H3 (M9–18) cor digital + v2   ▶   H4 (M12–24) IA → contas-chave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6. ENTRADA NAS CONTAS-CHAVE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Jogo de contas nomeadas — não de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2468880" cy="59436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NÍVEL 1 — Farol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3657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E2A47"/>
                </a:solidFill>
                <a:latin typeface="Calibri"/>
              </a:rPr>
              <a:t>Vista Alegre · Costa Verde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783080"/>
            <a:ext cx="4663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Piloto Eco-Low-Fire numa linha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96312"/>
            <a:ext cx="2468880" cy="59436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NÍVEL 2 —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496312"/>
            <a:ext cx="3657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E2A47"/>
                </a:solidFill>
                <a:latin typeface="Calibri"/>
              </a:rPr>
              <a:t>Grestel · Matceramica · Spal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496312"/>
            <a:ext cx="4663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SLA de consistência + energia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9544"/>
            <a:ext cx="2468880" cy="59436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9544"/>
            <a:ext cx="2468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NÍVEL 3 — Expansão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209544"/>
            <a:ext cx="3657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E2A47"/>
                </a:solidFill>
                <a:latin typeface="Calibri"/>
              </a:rPr>
              <a:t>Sanindusa · Revigrés · Love Tiles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209544"/>
            <a:ext cx="4663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1A242B"/>
                </a:solidFill>
                <a:latin typeface="Calibri"/>
              </a:rPr>
              <a:t>Engobes/vidrados + serviço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14800"/>
            <a:ext cx="11064240" cy="1920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0E2A47"/>
                </a:solidFill>
                <a:latin typeface="Calibri"/>
              </a:rPr>
              <a:t>A jogada de "aterragem" em 5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1A242B"/>
                </a:solidFill>
                <a:latin typeface="Calibri"/>
              </a:rPr>
              <a:t>1. Visita de diagnóstico gratuita (relatório de oportunidade)   →   2. Piloto numa única linha (baixo risco)   →   3. Resultado quantificado em €/ano   →   4. Contrato com SLA de consistência   →   5. Expandir + plataforma de IA = fidelização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7. PROJETOS-PILOTO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Dois pilotos farol = prova quantificada e inegável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4406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731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029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PILOTO A — Vista Alegre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C8D4DC"/>
                </a:solidFill>
                <a:latin typeface="Calibri"/>
              </a:rPr>
              <a:t>Porcelana premium · a barra de qualidade mais alta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029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Provar Eco-Low-Fire sem perda de brancura/brilho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−30 a −50 °C na temperatura de pico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≥ 8% de redução medida de energia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ΔE ≤ 0,5 em 3 lotes consecutivos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Vencer aqui = certificado de qualidade para todas as contas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783080"/>
            <a:ext cx="54406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73152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029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PILOTO B — Costa Verde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Louça de volume · prova de serviço e 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SLA de consistência + serviço no local 24–48h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Taxa de defeitos ↓ (alvo −20%)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Energia/peça ↓ 8–12%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Resposta do engenheiro ≤ 48h registada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128C7E"/>
                </a:solidFill>
                <a:latin typeface="Calibri"/>
              </a:rPr>
              <a:t>•  </a:t>
            </a:r>
            <a:r>
              <a:rPr sz="1350" b="0">
                <a:solidFill>
                  <a:srgbClr val="1A242B"/>
                </a:solidFill>
                <a:latin typeface="Calibri"/>
              </a:rPr>
              <a:t>Poupança em €/ano validada pela equipa de processo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8.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Plano de execução a 24 meses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2697480" cy="105156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697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M0–6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FUNDAÇÃO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2697480" cy="2743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377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Laboratório + armazém em Aveiro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2–3 engenheiros de campo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5 fritas-base + SPC/ΔE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Assinar pilotos VA + CV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783080"/>
            <a:ext cx="2697480" cy="105156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4992" y="1783080"/>
            <a:ext cx="2697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M4–12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2834640"/>
            <a:ext cx="2697480" cy="2743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3017520"/>
            <a:ext cx="2377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Eco-Low-Fire v1 validado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Executar Pilotos A e B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Cor digital ativa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1ºs casos de estudo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1783080"/>
            <a:ext cx="2697480" cy="105156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1783080"/>
            <a:ext cx="2697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M9–18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ESCALA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834640"/>
            <a:ext cx="2697480" cy="2743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3017520"/>
            <a:ext cx="2377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Pilotos → contratos SLA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Eco-Low-Fire v2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Expandir Nível 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Abordar Nível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7696" y="1783080"/>
            <a:ext cx="2697480" cy="10515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783080"/>
            <a:ext cx="2697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FASE 4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M12–24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FIDELIZAÇÃO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97696" y="2834640"/>
            <a:ext cx="2697480" cy="27432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0576" y="3017520"/>
            <a:ext cx="23774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Plataforma de IA (beta→rollout)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Fosso de dados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Co-desenvolvimento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128C7E"/>
                </a:solidFill>
                <a:latin typeface="Calibri"/>
              </a:rPr>
              <a:t>•  </a:t>
            </a:r>
            <a:r>
              <a:rPr sz="1200" b="0">
                <a:solidFill>
                  <a:srgbClr val="1A242B"/>
                </a:solidFill>
                <a:latin typeface="Calibri"/>
              </a:rPr>
              <a:t>Parceiro por defeito do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28C7E"/>
                </a:solidFill>
                <a:latin typeface="Calibri"/>
              </a:rPr>
              <a:t>ANEXO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E2A47"/>
                </a:solidFill>
                <a:latin typeface="Calibri"/>
              </a:rPr>
              <a:t>Painel de KPIs — acompanhar desde o dia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20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20440" cy="9144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128C7E"/>
                </a:solidFill>
                <a:latin typeface="Calibri"/>
              </a:rPr>
              <a:t>≤ 0,5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E2A47"/>
                </a:solidFill>
                <a:latin typeface="Calibri"/>
              </a:rPr>
              <a:t>ΔE entre lotes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920240"/>
            <a:ext cx="3520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920240"/>
            <a:ext cx="3520440" cy="9144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219456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E36A1E"/>
                </a:solidFill>
                <a:latin typeface="Calibri"/>
              </a:rPr>
              <a:t>8–12%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06324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E2A47"/>
                </a:solidFill>
                <a:latin typeface="Calibri"/>
              </a:rPr>
              <a:t>Redução de energia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920240"/>
            <a:ext cx="3520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920240"/>
            <a:ext cx="3520440" cy="9144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19456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0E2A47"/>
                </a:solidFill>
                <a:latin typeface="Calibri"/>
              </a:rPr>
              <a:t>≤ 10 dias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306324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E2A47"/>
                </a:solidFill>
                <a:latin typeface="Calibri"/>
              </a:rPr>
              <a:t>Prazo de amostra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0480"/>
            <a:ext cx="3520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3520440" cy="9144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128C7E"/>
                </a:solidFill>
                <a:latin typeface="Calibri"/>
              </a:rPr>
              <a:t>24–48h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E2A47"/>
                </a:solidFill>
                <a:latin typeface="Calibri"/>
              </a:rPr>
              <a:t>Resposta no local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3840480"/>
            <a:ext cx="3520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840480"/>
            <a:ext cx="3520440" cy="9144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411480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E36A1E"/>
                </a:solidFill>
                <a:latin typeface="Calibri"/>
              </a:rPr>
              <a:t>≥ 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49834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E2A47"/>
                </a:solidFill>
                <a:latin typeface="Calibri"/>
              </a:rPr>
              <a:t>Conversão piloto→contrato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0" y="3840480"/>
            <a:ext cx="35204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80" y="3840480"/>
            <a:ext cx="3520440" cy="9144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4114800"/>
            <a:ext cx="3520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0E2A47"/>
                </a:solidFill>
                <a:latin typeface="Calibri"/>
              </a:rPr>
              <a:t>−20–35%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49834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E2A47"/>
                </a:solidFill>
                <a:latin typeface="Calibri"/>
              </a:rPr>
              <a:t>Custo-de-servir / I&amp;D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56670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5566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91440"/>
          </a:xfrm>
          <a:prstGeom prst="rect">
            <a:avLst/>
          </a:prstGeom>
          <a:solidFill>
            <a:srgbClr val="E3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28C7E"/>
                </a:solidFill>
                <a:latin typeface="Calibri"/>
              </a:rPr>
              <a:t>RESUMO — PITCH DE ELEVADOR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Tornar-nos o parceiro ágil de inovação técnica da cerâmica portuguesa.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D8E2E8"/>
                </a:solidFill>
                <a:latin typeface="Calibri"/>
              </a:rPr>
              <a:t>Vencemos não por superar a Torrecid, a Esmalglass e a Ferro em escala, mas por ocupar o quadrante vazio: alta tecnologia + alta proximidade local.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D8E2E8"/>
                </a:solidFill>
                <a:latin typeface="Calibri"/>
              </a:rPr>
              <a:t>Entregamos as 4 coisas que as fábricas compram — consistência de lote, faturas de energia mais baixas, desenvolvimento à medida rápido e um engenheiro na linha em 24–48h.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0">
                <a:solidFill>
                  <a:srgbClr val="D8E2E8"/>
                </a:solidFill>
                <a:latin typeface="Calibri"/>
              </a:rPr>
              <a:t>O Eco-Low Fire Smart Frit transforma a maior dor (energia) no nosso argumento mais forte (8–12%). A Plataforma de IA torna a relação num fosso de dados.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E36A1E"/>
                </a:solidFill>
                <a:latin typeface="Calibri"/>
              </a:rPr>
              <a:t>Provamo-lo na Vista Alegre e na Costa Verde — e escalamos pelo cluster em 24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Vidres Portugal — Manual Estratégico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